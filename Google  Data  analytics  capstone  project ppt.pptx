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92" r:id="rId5"/>
    <p:sldId id="293" r:id="rId6"/>
    <p:sldId id="294" r:id="rId7"/>
    <p:sldId id="295" r:id="rId8"/>
    <p:sldId id="296" r:id="rId9"/>
    <p:sldId id="297" r:id="rId10"/>
    <p:sldId id="298" r:id="rId11"/>
    <p:sldId id="299" r:id="rId12"/>
    <p:sldId id="300" r:id="rId13"/>
    <p:sldId id="301" r:id="rId14"/>
    <p:sldId id="302" r:id="rId15"/>
    <p:sldId id="303" r:id="rId16"/>
    <p:sldId id="304" r:id="rId17"/>
    <p:sldId id="305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19" autoAdjust="0"/>
  </p:normalViewPr>
  <p:slideViewPr>
    <p:cSldViewPr snapToGrid="0">
      <p:cViewPr>
        <p:scale>
          <a:sx n="40" d="100"/>
          <a:sy n="40" d="100"/>
        </p:scale>
        <p:origin x="44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A0C0817-A112-4847-8014-A94B7D2A4EA3}" type="datetime1">
              <a:rPr lang="en-US" smtClean="0"/>
              <a:t>2/12/2025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7750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318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9C646AA-F36E-4540-911D-FFFC0A0EF24A}" type="datetime1">
              <a:rPr lang="en-US" smtClean="0"/>
              <a:t>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9058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2/12/2025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0950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2/12/2025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5147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2/12/2025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700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2/12/2025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1610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8D12A6-918A-48BD-8CB9-CA713993B0EA}" type="datetime1">
              <a:rPr lang="en-US" smtClean="0"/>
              <a:t>2/12/2025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75313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778CE86-875F-4587-BCF6-FA054AFC0D53}" type="datetime1">
              <a:rPr lang="en-US" smtClean="0"/>
              <a:pPr/>
              <a:t>2/12/2025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88086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6409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36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2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tunguz/gold-prices" TargetMode="External"/><Relationship Id="rId2" Type="http://schemas.openxmlformats.org/officeDocument/2006/relationships/hyperlink" Target="https://www.kaggle.com/datasets/mczielinski/bitcoin-historical-data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2BA1780-A246-4C7F-9267-727EF2F4E7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846"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2644B391-9BFE-445C-A9EC-F544BB85F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7329" y="1808532"/>
            <a:ext cx="5452527" cy="3240936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0F26E69-87D9-4655-AE7B-280A87AA3C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3272" y="1975104"/>
            <a:ext cx="5120640" cy="2907792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D7398C-75E5-4CB0-BA4F-D7D5CF2495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6055" y="2350017"/>
            <a:ext cx="4775075" cy="1630906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tx1"/>
                </a:solidFill>
              </a:rPr>
              <a:t>Google  Data  analytics  capstone 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5BFB45-FC34-495C-9C68-F9641246C2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76055" y="4147495"/>
            <a:ext cx="4775075" cy="716139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chemeClr val="tx1"/>
                </a:solidFill>
              </a:rPr>
              <a:t>S Shivani</a:t>
            </a:r>
            <a:br>
              <a:rPr lang="en-US" sz="1600" dirty="0">
                <a:solidFill>
                  <a:schemeClr val="tx1"/>
                </a:solidFill>
              </a:rPr>
            </a:br>
            <a:r>
              <a:rPr lang="en-US" sz="1600" dirty="0">
                <a:solidFill>
                  <a:schemeClr val="tx1"/>
                </a:solidFill>
              </a:rPr>
              <a:t>12/02/2025</a:t>
            </a:r>
          </a:p>
        </p:txBody>
      </p:sp>
    </p:spTree>
    <p:extLst>
      <p:ext uri="{BB962C8B-B14F-4D97-AF65-F5344CB8AC3E}">
        <p14:creationId xmlns:p14="http://schemas.microsoft.com/office/powerpoint/2010/main" val="21520829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26D8D-29AD-4C6B-1AC7-A7BF37DBA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Track 2.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7DFFD2-51B3-8D1B-36AC-841689318C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3200" b="1" dirty="0"/>
              <a:t>Is Bitcoin a good investment?</a:t>
            </a:r>
          </a:p>
          <a:p>
            <a:pPr marL="0" indent="0">
              <a:buNone/>
            </a:pPr>
            <a:r>
              <a:rPr lang="en-US" sz="3200" b="0" i="0" dirty="0">
                <a:solidFill>
                  <a:srgbClr val="1F1F1F"/>
                </a:solidFill>
                <a:effectLst/>
                <a:latin typeface="Google Sans"/>
              </a:rPr>
              <a:t>Bitcoin is a decentralized digital currency where the transactions take place between users directly without an intermediary and are verified by network nodes through cryptography and finally recorded in a public distributed ledger called blockchain.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6962662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ECC8D-85B1-830B-2E21-2CEBE14BA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Framework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ED99DE-744B-3476-5721-027D6D7478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103120"/>
            <a:ext cx="2654968" cy="1714901"/>
          </a:xfrm>
        </p:spPr>
        <p:txBody>
          <a:bodyPr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2600" dirty="0"/>
              <a:t>1. Ask </a:t>
            </a:r>
          </a:p>
          <a:p>
            <a:pPr algn="ctr"/>
            <a:r>
              <a:rPr lang="en-US" sz="2600" dirty="0"/>
              <a:t> Understand the problem</a:t>
            </a:r>
          </a:p>
          <a:p>
            <a:pPr algn="ctr"/>
            <a:r>
              <a:rPr lang="en-US" sz="2600" dirty="0"/>
              <a:t> Ask the right question.</a:t>
            </a:r>
          </a:p>
          <a:p>
            <a:endParaRPr lang="en-IN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A6970D-68BA-F34D-1BCF-B42FA757660E}"/>
              </a:ext>
            </a:extLst>
          </p:cNvPr>
          <p:cNvSpPr txBox="1"/>
          <p:nvPr/>
        </p:nvSpPr>
        <p:spPr>
          <a:xfrm>
            <a:off x="4491789" y="2358189"/>
            <a:ext cx="23581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2. Prepare</a:t>
            </a:r>
          </a:p>
          <a:p>
            <a:pPr algn="ctr"/>
            <a:r>
              <a:rPr lang="en-IN" dirty="0"/>
              <a:t> •Collecting Data •Verify 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B047EE-BD54-CA97-1CAF-51A3DDAEFB95}"/>
              </a:ext>
            </a:extLst>
          </p:cNvPr>
          <p:cNvSpPr txBox="1"/>
          <p:nvPr/>
        </p:nvSpPr>
        <p:spPr>
          <a:xfrm>
            <a:off x="8598569" y="2382252"/>
            <a:ext cx="20694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3. Process •Create clean data •Recheck data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DB54CE-8183-A8F1-9F5A-8EE693F153F0}"/>
              </a:ext>
            </a:extLst>
          </p:cNvPr>
          <p:cNvSpPr txBox="1"/>
          <p:nvPr/>
        </p:nvSpPr>
        <p:spPr>
          <a:xfrm>
            <a:off x="1367589" y="4461080"/>
            <a:ext cx="20533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4. Analyze •Identify trends and relationships •Organize and format data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182607-AEB1-91BF-1D61-856CEEB343AF}"/>
              </a:ext>
            </a:extLst>
          </p:cNvPr>
          <p:cNvSpPr txBox="1"/>
          <p:nvPr/>
        </p:nvSpPr>
        <p:spPr>
          <a:xfrm>
            <a:off x="4491789" y="4507832"/>
            <a:ext cx="28715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5. Share •Create Visualization •Present findings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3FC50E-8C26-A7F2-68DD-CB7BAC280C1D}"/>
              </a:ext>
            </a:extLst>
          </p:cNvPr>
          <p:cNvSpPr txBox="1"/>
          <p:nvPr/>
        </p:nvSpPr>
        <p:spPr>
          <a:xfrm>
            <a:off x="8165432" y="4507832"/>
            <a:ext cx="32565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6. Act •Share next steps •Evaluate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68453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1D3B9-CC51-D107-4A35-8DA979B45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1. 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F1304-2E46-8B0C-A527-9DECE17C48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dirty="0"/>
              <a:t>Our objective is </a:t>
            </a:r>
            <a:r>
              <a:rPr lang="en-US" sz="2000" dirty="0">
                <a:latin typeface="system-ui"/>
              </a:rPr>
              <a:t>t</a:t>
            </a:r>
            <a:r>
              <a:rPr lang="en-US" sz="2000" b="0" i="0" dirty="0">
                <a:effectLst/>
                <a:latin typeface="system-ui"/>
              </a:rPr>
              <a:t>o analyze Bitcoin's historical performance and assess its investment potential.</a:t>
            </a:r>
          </a:p>
          <a:p>
            <a:pPr marL="0" indent="0">
              <a:buNone/>
            </a:pPr>
            <a:r>
              <a:rPr lang="en-IN" sz="2000" dirty="0"/>
              <a:t>Some questions we want to answer :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 b="0" i="0" dirty="0">
                <a:effectLst/>
                <a:latin typeface="system-ui"/>
              </a:rPr>
              <a:t>What are the key metrics for evaluating Bitcoin's performance?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 b="0" i="0" dirty="0">
                <a:effectLst/>
                <a:latin typeface="system-ui"/>
              </a:rPr>
              <a:t>How does Bitcoin's performance compare to traditional investments like stocks and gold?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 b="0" i="0" dirty="0">
                <a:effectLst/>
                <a:latin typeface="system-ui"/>
              </a:rPr>
              <a:t>What risks are associated with investing in Bitcoin?</a:t>
            </a:r>
          </a:p>
          <a:p>
            <a:pPr marL="0" indent="0">
              <a:buNone/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7822885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5A0F1-1057-1D92-D742-36911E825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2. prepare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9DC24A-DC70-CA3E-E76A-730F340656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dirty="0"/>
              <a:t>The data sources we used are 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 b="0" i="0" dirty="0">
                <a:effectLst/>
                <a:latin typeface="system-ui"/>
              </a:rPr>
              <a:t>Bitcoin Historical Data (</a:t>
            </a:r>
            <a:r>
              <a:rPr lang="en-US" sz="1800" b="0" i="0" u="none" strike="noStrike" dirty="0">
                <a:effectLst/>
                <a:latin typeface="system-ui"/>
                <a:hlinkClick r:id="rId2"/>
              </a:rPr>
              <a:t>https://www.kaggle.com/datasets/mczielinski/bitcoin-historical-data</a:t>
            </a:r>
            <a:r>
              <a:rPr lang="en-US" sz="1800" b="0" i="0" dirty="0">
                <a:effectLst/>
                <a:latin typeface="system-ui"/>
              </a:rPr>
              <a:t>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 b="0" i="0" dirty="0">
                <a:effectLst/>
                <a:latin typeface="system-ui"/>
              </a:rPr>
              <a:t>Gold Prices (</a:t>
            </a:r>
            <a:r>
              <a:rPr lang="en-US" sz="1800" b="0" i="0" u="none" strike="noStrike" dirty="0">
                <a:effectLst/>
                <a:latin typeface="system-ui"/>
                <a:hlinkClick r:id="rId3"/>
              </a:rPr>
              <a:t>https://www.kaggle.com/datasets/tunguz/gold-prices</a:t>
            </a:r>
            <a:r>
              <a:rPr lang="en-US" sz="1800" b="0" i="0" dirty="0">
                <a:effectLst/>
                <a:latin typeface="system-ui"/>
              </a:rPr>
              <a:t>)</a:t>
            </a:r>
          </a:p>
          <a:p>
            <a:pPr marL="0" indent="0">
              <a:buNone/>
            </a:pPr>
            <a:r>
              <a:rPr lang="en-IN" sz="2000" dirty="0"/>
              <a:t>Facts about data 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system-ui"/>
              </a:rPr>
              <a:t>Bitcoin Historical Data: CSV files for select bitcoin exchanges for the time period of Jan 2012 to Present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system-ui"/>
              </a:rPr>
              <a:t>Gold Prices: Historical Annual Gold Prices. Retrieved from </a:t>
            </a:r>
            <a:r>
              <a:rPr lang="en-US" sz="2000" b="0" i="0" dirty="0" err="1">
                <a:effectLst/>
                <a:latin typeface="system-ui"/>
              </a:rPr>
              <a:t>DataHub</a:t>
            </a:r>
            <a:r>
              <a:rPr lang="en-US" sz="2000" b="0" i="0" dirty="0">
                <a:effectLst/>
                <a:latin typeface="system-ui"/>
              </a:rPr>
              <a:t>, and expected to be updated annually.</a:t>
            </a:r>
          </a:p>
          <a:p>
            <a:pPr marL="0" indent="0">
              <a:buNone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0835038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F2D9B-357A-4DA6-2887-CF6F42818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3.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A64579-E1C1-92CA-3B5F-2972DD46B6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014194"/>
            <a:ext cx="10058400" cy="3849624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IN" sz="8000" dirty="0"/>
              <a:t>Here we are using two datasets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6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ystem-ui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8000" dirty="0">
              <a:latin typeface="system-ui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ystem-ui"/>
              </a:rPr>
              <a:t>Bitcoin Dataset: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8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ystem-ui"/>
              </a:rPr>
              <a:t>Columns with missing values: Checked for missing values in </a:t>
            </a:r>
            <a:r>
              <a:rPr kumimoji="0" lang="en-US" altLang="en-US" sz="8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open</a:t>
            </a:r>
            <a:r>
              <a:rPr kumimoji="0" lang="en-US" altLang="en-US" sz="8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ystem-ui"/>
              </a:rPr>
              <a:t>, </a:t>
            </a:r>
            <a:r>
              <a:rPr kumimoji="0" lang="en-US" altLang="en-US" sz="8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high</a:t>
            </a:r>
            <a:r>
              <a:rPr kumimoji="0" lang="en-US" altLang="en-US" sz="8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ystem-ui"/>
              </a:rPr>
              <a:t>, </a:t>
            </a:r>
            <a:r>
              <a:rPr kumimoji="0" lang="en-US" altLang="en-US" sz="8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low</a:t>
            </a:r>
            <a:r>
              <a:rPr kumimoji="0" lang="en-US" altLang="en-US" sz="8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ystem-ui"/>
              </a:rPr>
              <a:t>, </a:t>
            </a:r>
            <a:r>
              <a:rPr kumimoji="0" lang="en-US" altLang="en-US" sz="8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close</a:t>
            </a:r>
            <a:r>
              <a:rPr kumimoji="0" lang="en-US" altLang="en-US" sz="8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ystem-ui"/>
              </a:rPr>
              <a:t>, </a:t>
            </a:r>
            <a:r>
              <a:rPr kumimoji="0" lang="en-US" altLang="en-US" sz="8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volume</a:t>
            </a:r>
            <a:r>
              <a:rPr kumimoji="0" lang="en-US" altLang="en-US" sz="8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ystem-ui"/>
              </a:rPr>
              <a:t>, and </a:t>
            </a:r>
            <a:r>
              <a:rPr kumimoji="0" lang="en-US" altLang="en-US" sz="8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timestamp</a:t>
            </a:r>
            <a:r>
              <a:rPr kumimoji="0" lang="en-US" altLang="en-US" sz="8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ystem-ui"/>
              </a:rPr>
              <a:t>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8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ystem-ui"/>
              </a:rPr>
              <a:t>Strategy:</a:t>
            </a:r>
          </a:p>
          <a:p>
            <a:pPr marL="457200" marR="0" lvl="1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8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ystem-ui"/>
              </a:rPr>
              <a:t>Filled missing values in </a:t>
            </a:r>
            <a:r>
              <a:rPr kumimoji="0" lang="en-US" altLang="en-US" sz="8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open</a:t>
            </a:r>
            <a:r>
              <a:rPr kumimoji="0" lang="en-US" altLang="en-US" sz="8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ystem-ui"/>
              </a:rPr>
              <a:t>, </a:t>
            </a:r>
            <a:r>
              <a:rPr kumimoji="0" lang="en-US" altLang="en-US" sz="8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high</a:t>
            </a:r>
            <a:r>
              <a:rPr kumimoji="0" lang="en-US" altLang="en-US" sz="8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ystem-ui"/>
              </a:rPr>
              <a:t>, </a:t>
            </a:r>
            <a:r>
              <a:rPr kumimoji="0" lang="en-US" altLang="en-US" sz="8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low</a:t>
            </a:r>
            <a:r>
              <a:rPr kumimoji="0" lang="en-US" altLang="en-US" sz="8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ystem-ui"/>
              </a:rPr>
              <a:t>, and </a:t>
            </a:r>
            <a:r>
              <a:rPr kumimoji="0" lang="en-US" altLang="en-US" sz="8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close</a:t>
            </a:r>
            <a:r>
              <a:rPr kumimoji="0" lang="en-US" altLang="en-US" sz="8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ystem-ui"/>
              </a:rPr>
              <a:t> with the median to avoid the influence of outliers.</a:t>
            </a:r>
          </a:p>
          <a:p>
            <a:pPr marL="457200" marR="0" lvl="1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8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ystem-ui"/>
              </a:rPr>
              <a:t>Filled missing values in </a:t>
            </a:r>
            <a:r>
              <a:rPr kumimoji="0" lang="en-US" altLang="en-US" sz="8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volume</a:t>
            </a:r>
            <a:r>
              <a:rPr kumimoji="0" lang="en-US" altLang="en-US" sz="8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ystem-ui"/>
              </a:rPr>
              <a:t> with the mean for consistent handling of continuous data.</a:t>
            </a:r>
          </a:p>
          <a:p>
            <a:pPr marL="457200" marR="0" lvl="1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8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ystem-ui"/>
              </a:rPr>
              <a:t>Dropped rows with missing </a:t>
            </a:r>
            <a:r>
              <a:rPr kumimoji="0" lang="en-US" altLang="en-US" sz="8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timestamp</a:t>
            </a:r>
            <a:r>
              <a:rPr kumimoji="0" lang="en-US" altLang="en-US" sz="8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ystem-ui"/>
              </a:rPr>
              <a:t>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ystem-ui"/>
              </a:rPr>
              <a:t>Gold Dataset: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8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ystem-ui"/>
              </a:rPr>
              <a:t>Columns with missing values: Checked for missing values in </a:t>
            </a:r>
            <a:r>
              <a:rPr kumimoji="0" lang="en-US" altLang="en-US" sz="8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price</a:t>
            </a:r>
            <a:r>
              <a:rPr kumimoji="0" lang="en-US" altLang="en-US" sz="8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ystem-ui"/>
              </a:rPr>
              <a:t> and </a:t>
            </a:r>
            <a:r>
              <a:rPr kumimoji="0" lang="en-US" altLang="en-US" sz="8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date</a:t>
            </a:r>
            <a:r>
              <a:rPr kumimoji="0" lang="en-US" altLang="en-US" sz="8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ystem-ui"/>
              </a:rPr>
              <a:t>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8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ystem-ui"/>
              </a:rPr>
              <a:t>Strategy:</a:t>
            </a:r>
          </a:p>
          <a:p>
            <a:pPr marL="457200" marR="0" lvl="1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8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ystem-ui"/>
              </a:rPr>
              <a:t>Filled missing values in </a:t>
            </a:r>
            <a:r>
              <a:rPr kumimoji="0" lang="en-US" altLang="en-US" sz="8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price</a:t>
            </a:r>
            <a:r>
              <a:rPr kumimoji="0" lang="en-US" altLang="en-US" sz="8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ystem-ui"/>
              </a:rPr>
              <a:t> with the median.</a:t>
            </a:r>
          </a:p>
          <a:p>
            <a:pPr marL="457200" marR="0" lvl="1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8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ystem-ui"/>
              </a:rPr>
              <a:t>Dropped rows with missing </a:t>
            </a:r>
            <a:r>
              <a:rPr kumimoji="0" lang="en-US" altLang="en-US" sz="8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date</a:t>
            </a:r>
            <a:r>
              <a:rPr kumimoji="0" lang="en-US" altLang="en-US" sz="8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ystem-ui"/>
              </a:rPr>
              <a:t>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627052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7D669-EB46-96AB-EA4D-37DC602FB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3.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0FC165-8CB9-120A-C67C-6DA4E72AD8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dirty="0"/>
              <a:t>Here we are using python for data exploration and reporting. </a:t>
            </a:r>
          </a:p>
          <a:p>
            <a:pPr marL="0" indent="0" algn="l">
              <a:buNone/>
            </a:pPr>
            <a:r>
              <a:rPr lang="en-US" sz="2000" i="0" dirty="0">
                <a:effectLst/>
                <a:latin typeface="system-ui"/>
              </a:rPr>
              <a:t>Outcome:</a:t>
            </a:r>
          </a:p>
          <a:p>
            <a:pPr marL="0" indent="0" algn="l">
              <a:buNone/>
            </a:pPr>
            <a:r>
              <a:rPr lang="en-US" sz="2000" i="0" dirty="0">
                <a:effectLst/>
                <a:latin typeface="system-ui"/>
              </a:rPr>
              <a:t>     Both datasets are now complete and ready for further analysis.</a:t>
            </a:r>
          </a:p>
          <a:p>
            <a:pPr marL="0" indent="0" algn="l">
              <a:buNone/>
            </a:pPr>
            <a:endParaRPr lang="en-US" sz="2000" dirty="0">
              <a:latin typeface="system-ui"/>
            </a:endParaRPr>
          </a:p>
          <a:p>
            <a:pPr marL="0" indent="0" algn="l">
              <a:buNone/>
            </a:pPr>
            <a:r>
              <a:rPr lang="en-US" sz="2000" i="0" dirty="0">
                <a:effectLst/>
                <a:latin typeface="system-ui"/>
              </a:rPr>
              <a:t>For more details refer to </a:t>
            </a:r>
          </a:p>
          <a:p>
            <a:pPr marL="0" indent="0">
              <a:buNone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1141802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6FC89-B0E4-7F3E-00BC-B774A8A7F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4. </a:t>
            </a:r>
            <a:r>
              <a:rPr lang="en-IN" dirty="0" err="1"/>
              <a:t>Analyze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2CEEB5-EA3E-DCFD-5B3F-B53E9365B9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000" dirty="0"/>
              <a:t>Analysis is done using python and can be found in this link </a:t>
            </a:r>
          </a:p>
          <a:p>
            <a:pPr marL="0" indent="0">
              <a:buNone/>
            </a:pPr>
            <a:r>
              <a:rPr lang="en-IN" sz="2000" dirty="0"/>
              <a:t>Some notable findings are :</a:t>
            </a:r>
          </a:p>
          <a:p>
            <a:pPr marL="0" indent="0">
              <a:buNone/>
            </a:pPr>
            <a:r>
              <a:rPr lang="en-IN" sz="2000" dirty="0"/>
              <a:t>Bitcoin price trends: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4F66EF38-A227-9D62-C817-67CE99BECA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3604952"/>
            <a:ext cx="3264568" cy="2610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13066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14718-1EE1-D26D-75D8-7EF0C3356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4. </a:t>
            </a:r>
            <a:r>
              <a:rPr lang="en-IN" dirty="0" err="1"/>
              <a:t>Analyze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68F33C-8284-6E00-BC65-D995067785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000" dirty="0"/>
              <a:t>Gold price trends:</a:t>
            </a:r>
            <a:br>
              <a:rPr lang="en-IN" dirty="0"/>
            </a:br>
            <a:endParaRPr lang="en-IN" dirty="0"/>
          </a:p>
        </p:txBody>
      </p:sp>
      <p:pic>
        <p:nvPicPr>
          <p:cNvPr id="3078" name="Picture 6">
            <a:extLst>
              <a:ext uri="{FF2B5EF4-FFF2-40B4-BE49-F238E27FC236}">
                <a16:creationId xmlns:a16="http://schemas.microsoft.com/office/drawing/2014/main" id="{A58136D6-E098-63D6-D098-7E1E45629A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2771050"/>
            <a:ext cx="3978946" cy="3181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95033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0A38-3C73-CB06-E105-9B7FC2BDE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4. </a:t>
            </a:r>
            <a:r>
              <a:rPr lang="en-IN" dirty="0" err="1"/>
              <a:t>Analyze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70992-AA4F-F5B2-7431-E146F0D6CB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dirty="0"/>
              <a:t>Volatility Comparison (Daily % Change) :</a:t>
            </a:r>
          </a:p>
          <a:p>
            <a:pPr marL="0" indent="0">
              <a:buNone/>
            </a:pPr>
            <a:endParaRPr lang="en-IN" sz="2000" dirty="0"/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DB460105-AF30-8A47-DCD8-DB7D6D9968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5137" y="2674376"/>
            <a:ext cx="4211053" cy="3367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2952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CFAE5-FE28-DFCC-5380-DF265EFF7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4. </a:t>
            </a:r>
            <a:r>
              <a:rPr lang="en-IN" dirty="0" err="1"/>
              <a:t>Analyze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FB887E-9822-0948-D1B7-27818C3ED2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43006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4CDB5-47F8-AF26-BB28-9131A3B8B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5. Share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B0B07-91DF-6666-DC1F-6B3F287B76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Based on our thorough analysis, we will go back to our original question and try to answer them.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system-ui"/>
              </a:rPr>
              <a:t>What are the key metrics for evaluating Bitcoin's performance?</a:t>
            </a:r>
          </a:p>
          <a:p>
            <a:pPr marL="0" indent="0" algn="l">
              <a:buNone/>
            </a:pPr>
            <a:r>
              <a:rPr lang="en-US" sz="1800" dirty="0"/>
              <a:t>→ Price trends, volatility, trading volume, and historical returns.</a:t>
            </a:r>
            <a:endParaRPr lang="en-US" b="0" i="0" dirty="0">
              <a:effectLst/>
              <a:latin typeface="system-ui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system-ui"/>
              </a:rPr>
              <a:t>How does Bitcoin's performance compare to traditional investments like stocks and gold?</a:t>
            </a:r>
          </a:p>
          <a:p>
            <a:pPr marL="0" indent="0" algn="l">
              <a:buNone/>
            </a:pPr>
            <a:r>
              <a:rPr lang="en-US" sz="1800" dirty="0"/>
              <a:t>→ Bitcoin is more volatile and high-risk, while Gold is more stable but has lower returns.</a:t>
            </a:r>
            <a:endParaRPr lang="en-US" b="0" i="0" dirty="0">
              <a:effectLst/>
              <a:latin typeface="system-ui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system-ui"/>
              </a:rPr>
              <a:t>What risks are associated with investing in Bitcoin?</a:t>
            </a:r>
          </a:p>
          <a:p>
            <a:pPr marL="0" indent="0" algn="l">
              <a:buNone/>
            </a:pPr>
            <a:r>
              <a:rPr lang="en-US" sz="1800" dirty="0"/>
              <a:t>→ High price fluctuations, regulatory uncertainty, and market speculation.</a:t>
            </a:r>
            <a:endParaRPr lang="en-US" b="0" i="0" dirty="0">
              <a:effectLst/>
              <a:latin typeface="system-ui"/>
            </a:endParaRPr>
          </a:p>
          <a:p>
            <a:pPr marL="0" indent="0">
              <a:buNone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5905859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8695E-B885-8FF9-8A89-272AE44FC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6. 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E5C4E2-2E11-6284-BEF2-EC14AF86DC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400" b="1" i="0" dirty="0">
                <a:effectLst/>
                <a:latin typeface="system-ui"/>
              </a:rPr>
              <a:t>Recommendations: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system-ui"/>
              </a:rPr>
              <a:t>Bitcoin can be a good investment for high-risk tolerant investors.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system-ui"/>
              </a:rPr>
              <a:t>Diversify your portfolio with other assets to minimize risk.</a:t>
            </a:r>
          </a:p>
          <a:p>
            <a:pPr marL="0" indent="0">
              <a:buNone/>
            </a:pPr>
            <a:r>
              <a:rPr lang="en-US" sz="2000" dirty="0"/>
              <a:t>Based on the analysis of Bitcoin and Gold prices, we can draw actionable insights for investors and stakeholders. Bitcoin exhibits </a:t>
            </a:r>
            <a:r>
              <a:rPr lang="en-US" sz="2000" b="1" dirty="0"/>
              <a:t>high volatility</a:t>
            </a:r>
            <a:r>
              <a:rPr lang="en-US" sz="2000" dirty="0"/>
              <a:t>, making it a risky but potentially high-reward investment, whereas Gold remains </a:t>
            </a:r>
            <a:r>
              <a:rPr lang="en-US" sz="2000" b="1" dirty="0"/>
              <a:t>a stable store of value</a:t>
            </a:r>
            <a:r>
              <a:rPr lang="en-US" sz="2000" dirty="0"/>
              <a:t> with lower fluctuations. The correlation analysis shows that Bitcoin and Gold have </a:t>
            </a:r>
            <a:r>
              <a:rPr lang="en-US" sz="2000" b="1" dirty="0"/>
              <a:t>little to no strong relationship</a:t>
            </a:r>
            <a:r>
              <a:rPr lang="en-US" sz="2000" dirty="0"/>
              <a:t>, meaning they behave independently as assets. Investors looking for long-term stability may prefer Gold, while those seeking high returns and are willing to accept risk might consider Bitcoin.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7135305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E7A47E-57AB-99A0-2A4B-3BF8076977AE}"/>
              </a:ext>
            </a:extLst>
          </p:cNvPr>
          <p:cNvSpPr txBox="1"/>
          <p:nvPr/>
        </p:nvSpPr>
        <p:spPr>
          <a:xfrm>
            <a:off x="1283368" y="2374814"/>
            <a:ext cx="9625263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500" dirty="0"/>
              <a:t>THANKYOU!</a:t>
            </a:r>
          </a:p>
        </p:txBody>
      </p:sp>
    </p:spTree>
    <p:extLst>
      <p:ext uri="{BB962C8B-B14F-4D97-AF65-F5344CB8AC3E}">
        <p14:creationId xmlns:p14="http://schemas.microsoft.com/office/powerpoint/2010/main" val="308090814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Savon">
      <a:majorFont>
        <a:latin typeface="Sagona ExtraLight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Sagona Book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VTI" id="{A72E8C35-66DD-49F8-AF66-813F19B983AE}" vid="{93CCBC76-B7A1-4C3D-93EA-5CE34C4670F9}"/>
    </a:ext>
  </a:extLst>
</a:theme>
</file>

<file path=ppt/theme/themeOverride1.xml><?xml version="1.0" encoding="utf-8"?>
<a:themeOverride xmlns:a="http://schemas.openxmlformats.org/drawingml/2006/main">
  <a:clrScheme name="Marquee">
    <a:dk1>
      <a:srgbClr val="000000"/>
    </a:dk1>
    <a:lt1>
      <a:sysClr val="window" lastClr="FFFFFF"/>
    </a:lt1>
    <a:dk2>
      <a:srgbClr val="5E5E5E"/>
    </a:dk2>
    <a:lt2>
      <a:srgbClr val="DDDDDD"/>
    </a:lt2>
    <a:accent1>
      <a:srgbClr val="418AB3"/>
    </a:accent1>
    <a:accent2>
      <a:srgbClr val="A6B727"/>
    </a:accent2>
    <a:accent3>
      <a:srgbClr val="F69200"/>
    </a:accent3>
    <a:accent4>
      <a:srgbClr val="838383"/>
    </a:accent4>
    <a:accent5>
      <a:srgbClr val="FEC306"/>
    </a:accent5>
    <a:accent6>
      <a:srgbClr val="DF5327"/>
    </a:accent6>
    <a:hlink>
      <a:srgbClr val="F59E00"/>
    </a:hlink>
    <a:folHlink>
      <a:srgbClr val="B2B2B2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E2713E1-6312-427E-BFCB-C5A5DA30137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2F3B215-496E-4790-A364-7C1C46DEC771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50DB95DD-0319-4EE5-8C5C-9CEDF75E024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{DB3BB48B-6E54-4398-A1EB-9C2E32DA19BA}tf78829772_win32</Template>
  <TotalTime>285</TotalTime>
  <Words>676</Words>
  <Application>Microsoft Office PowerPoint</Application>
  <PresentationFormat>Widescreen</PresentationFormat>
  <Paragraphs>74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Garamond</vt:lpstr>
      <vt:lpstr>Google Sans</vt:lpstr>
      <vt:lpstr>Sagona Book</vt:lpstr>
      <vt:lpstr>Sagona ExtraLight</vt:lpstr>
      <vt:lpstr>system-ui</vt:lpstr>
      <vt:lpstr>var(--jp-code-font-family)</vt:lpstr>
      <vt:lpstr>SavonVTI</vt:lpstr>
      <vt:lpstr>Google  Data  analytics  capstone  project</vt:lpstr>
      <vt:lpstr>Track 2.</vt:lpstr>
      <vt:lpstr>Framework overview</vt:lpstr>
      <vt:lpstr>1. ask</vt:lpstr>
      <vt:lpstr>2. prepare</vt:lpstr>
      <vt:lpstr>3. Process</vt:lpstr>
      <vt:lpstr>3. Process</vt:lpstr>
      <vt:lpstr>4. Analyze</vt:lpstr>
      <vt:lpstr>4. Analyze</vt:lpstr>
      <vt:lpstr>4. Analyze</vt:lpstr>
      <vt:lpstr>4. Analyze</vt:lpstr>
      <vt:lpstr>5. Share</vt:lpstr>
      <vt:lpstr>6. act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suresh kumar</dc:creator>
  <cp:lastModifiedBy>suresh kumar</cp:lastModifiedBy>
  <cp:revision>1</cp:revision>
  <dcterms:created xsi:type="dcterms:W3CDTF">2025-02-12T11:43:31Z</dcterms:created>
  <dcterms:modified xsi:type="dcterms:W3CDTF">2025-02-12T16:28:49Z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